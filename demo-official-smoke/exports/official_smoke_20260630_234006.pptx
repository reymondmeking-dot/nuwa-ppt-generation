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  <Relationship Id="rId12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开场说明：这是基于 hugohe3/ppt-master 封装后的 Hermes Skill 冒烟测试。重点展示动态 GIF 主视觉、深色科技风视觉系统，以及 PPTX 可编辑导出能力。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解释流程：source 输入进入项目目录，页面以 SVG 形式生成；质量检查确保 SVG 对 PPT 兼容；导出阶段转换为原生 DrawingML PPTX。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强调动态能力：页面中嵌入了真实 GIF 媒体，同时导出命令启用 per-element animation，使标题、图片、指标卡等组对象具备入场动画。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说明验证不是口头描述，而是实际执行质量检查、后处理和导出命令，并检查生成的 PPTX 包结构与媒体文件。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总结：ppt-master 已作为 Hermes skill 可用，测试项目与导出文件都保留在 D:\AI\ppt-master-sparse\projects 下，可继续复用或二次生成。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0d2f72b0df9b893.gif"/>
  <Relationship Id="rId3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0d2f72b0df9b893.gif"/>
  <Relationship Id="rId3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0" y="-428625"/>
            <a:ext cx="12287250" cy="7286625"/>
            <a:chOff x="0" y="-428625"/>
            <a:chExt cx="12287250" cy="7286625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55000">
                  <a:srgbClr val="0B1026"/>
                </a:gs>
                <a:gs pos="100000">
                  <a:srgbClr val="120827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5429250" y="-428625"/>
              <a:ext cx="6858000" cy="6858000"/>
            </a:xfrm>
            <a:prstGeom prst="ellipse">
              <a:avLst/>
            </a:prstGeom>
            <a:gradFill>
              <a:gsLst>
                <a:gs pos="0">
                  <a:srgbClr val="00E5FF">
                    <a:alpha val="34000"/>
                  </a:srgbClr>
                </a:gs>
                <a:gs pos="44000">
                  <a:srgbClr val="7C3AED">
                    <a:alpha val="18000"/>
                  </a:srgbClr>
                </a:gs>
                <a:gs pos="100000">
                  <a:srgbClr val="05081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0" y="3981450"/>
              <a:ext cx="12192000" cy="2209800"/>
            </a:xfrm>
            <a:custGeom>
              <a:avLst/>
              <a:gdLst/>
              <a:ahLst/>
              <a:cxnLst/>
              <a:rect l="l" t="t" r="r" b="b"/>
              <a:pathLst>
                <a:path w="12192000" h="2209800">
                  <a:moveTo>
                    <a:pt x="0" y="1828800"/>
                  </a:moveTo>
                  <a:cubicBezTo>
                    <a:pt x="2095500" y="971550"/>
                    <a:pt x="3333750" y="2209800"/>
                    <a:pt x="5619750" y="1400175"/>
                  </a:cubicBezTo>
                  <a:cubicBezTo>
                    <a:pt x="7810500" y="590550"/>
                    <a:pt x="9620250" y="876300"/>
                    <a:pt x="12192000" y="0"/>
                  </a:cubicBezTo>
                </a:path>
              </a:pathLst>
            </a:custGeom>
            <a:noFill/>
            <a:ln w="13335">
              <a:solidFill>
                <a:srgbClr val="00E5FF">
                  <a:alpha val="32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0" y="4667250"/>
              <a:ext cx="12192000" cy="2000250"/>
            </a:xfrm>
            <a:custGeom>
              <a:avLst/>
              <a:gdLst/>
              <a:ahLst/>
              <a:cxnLst/>
              <a:rect l="l" t="t" r="r" b="b"/>
              <a:pathLst>
                <a:path w="12192000" h="2000250">
                  <a:moveTo>
                    <a:pt x="0" y="1476375"/>
                  </a:moveTo>
                  <a:cubicBezTo>
                    <a:pt x="2571750" y="590550"/>
                    <a:pt x="4000500" y="2000250"/>
                    <a:pt x="6096000" y="1095375"/>
                  </a:cubicBezTo>
                  <a:cubicBezTo>
                    <a:pt x="8001000" y="266700"/>
                    <a:pt x="10287000" y="952500"/>
                    <a:pt x="12192000" y="0"/>
                  </a:cubicBezTo>
                </a:path>
              </a:pathLst>
            </a:custGeom>
            <a:noFill/>
            <a:ln w="11430">
              <a:solidFill>
                <a:srgbClr val="FF2E88">
                  <a:alpha val="22000"/>
                </a:srgbClr>
              </a:solidFill>
            </a:ln>
          </p:spPr>
        </p:sp>
        <p:sp>
          <p:nvSpPr>
            <p:cNvPr id="6" name="Freeform 6"/>
            <p:cNvSpPr/>
            <p:nvPr/>
          </p:nvSpPr>
          <p:spPr>
            <a:xfrm>
              <a:off x="857250" y="742950"/>
              <a:ext cx="10477500" cy="5372100"/>
            </a:xfrm>
            <a:custGeom>
              <a:avLst/>
              <a:gdLst/>
              <a:ahLst/>
              <a:cxnLst/>
              <a:rect l="l" t="t" r="r" b="b"/>
              <a:pathLst>
                <a:path w="10477500" h="5372100">
                  <a:moveTo>
                    <a:pt x="0" y="0"/>
                  </a:moveTo>
                  <a:lnTo>
                    <a:pt x="10477500" y="0"/>
                  </a:lnTo>
                  <a:moveTo>
                    <a:pt x="0" y="5372100"/>
                  </a:moveTo>
                  <a:lnTo>
                    <a:pt x="10477500" y="53721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0325F">
                  <a:alpha val="55000"/>
                </a:srgbClr>
              </a:solidFill>
            </a:ln>
          </p:spPr>
        </p:sp>
      </p:grpSp>
      <p:grpSp>
        <p:nvGrpSpPr>
          <p:cNvPr id="12" name="Group 12"/>
          <p:cNvGrpSpPr/>
          <p:nvPr/>
        </p:nvGrpSpPr>
        <p:grpSpPr>
          <a:xfrm>
            <a:off x="6715125" y="1162050"/>
            <a:ext cx="4476750" cy="3562731"/>
            <a:chOff x="6715125" y="1162050"/>
            <a:chExt cx="4476750" cy="3562731"/>
          </a:xfrm>
          <a:effectLst>
            <a:outerShdw blurRad="190500" dist="7620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8" name="Rectangle 8"/>
            <p:cNvSpPr/>
            <p:nvPr/>
          </p:nvSpPr>
          <p:spPr>
            <a:xfrm>
              <a:off x="6715125" y="1162050"/>
              <a:ext cx="4476750" cy="3200400"/>
            </a:xfrm>
            <a:prstGeom prst="roundRect">
              <a:avLst>
                <a:gd name="adj" fmla="val 10119"/>
              </a:avLst>
            </a:prstGeom>
            <a:solidFill>
              <a:srgbClr val="101A3F"/>
            </a:solidFill>
            <a:ln w="11430">
              <a:solidFill>
                <a:srgbClr val="20325F"/>
              </a:solidFill>
            </a:ln>
            <a:effectLst>
              <a:outerShdw blurRad="190500" dist="76200" dir="5400000" algn="ctr" rotWithShape="0">
                <a:srgbClr val="000000">
                  <a:alpha val="13500"/>
                </a:srgbClr>
              </a:outerShdw>
            </a:effectLst>
          </p:spPr>
        </p:sp>
        <p:pic>
          <p:nvPicPr>
            <p:cNvPr id="9" name="Image 9"/>
            <p:cNvPicPr>
              <a:picLocks noChangeAspect="1"/>
            </p:cNvPicPr>
            <p:nvPr/>
          </p:nvPicPr>
          <p:blipFill>
            <a:blip r:embed="rId2"/>
            <a:srcRect l="9478" t="0" r="9478" b="0"/>
            <a:stretch>
              <a:fillRect/>
            </a:stretch>
          </p:blipFill>
          <p:spPr>
            <a:xfrm>
              <a:off x="6867525" y="1314450"/>
              <a:ext cx="4171950" cy="2895600"/>
            </a:xfrm>
            <a:prstGeom prst="rect">
              <a:avLst/>
            </a:prstGeom>
          </p:spPr>
        </p:pic>
        <p:sp>
          <p:nvSpPr>
            <p:cNvPr id="10" name="Rectangle 10"/>
            <p:cNvSpPr/>
            <p:nvPr/>
          </p:nvSpPr>
          <p:spPr>
            <a:xfrm>
              <a:off x="6867525" y="1314450"/>
              <a:ext cx="4171950" cy="2895600"/>
            </a:xfrm>
            <a:prstGeom prst="roundRect">
              <a:avLst>
                <a:gd name="adj" fmla="val 7895"/>
              </a:avLst>
            </a:prstGeom>
            <a:noFill/>
            <a:ln w="13335">
              <a:solidFill>
                <a:srgbClr val="00E5FF">
                  <a:alpha val="48000"/>
                </a:srgbClr>
              </a:solidFill>
            </a:ln>
            <a:effectLst>
              <a:outerShdw blurRad="190500" dist="7620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1" name="TextBox 11"/>
            <p:cNvSpPr txBox="1"/>
            <p:nvPr/>
          </p:nvSpPr>
          <p:spPr>
            <a:xfrm>
              <a:off x="7589778" y="4490085"/>
              <a:ext cx="2727444" cy="234696"/>
            </a:xfrm>
            <a:prstGeom prst="rect">
              <a:avLst/>
            </a:prstGeom>
            <a:noFill/>
            <a:ln>
              <a:noFill/>
            </a:ln>
            <a:effectLst>
              <a:outerShdw blurRad="190500" dist="7620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嵌入动态 GIF：PowerPoint 中可播放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19150" y="1435418"/>
            <a:ext cx="6304026" cy="2309621"/>
            <a:chOff x="819150" y="1435418"/>
            <a:chExt cx="6304026" cy="2309621"/>
          </a:xfrm>
        </p:grpSpPr>
        <p:sp>
          <p:nvSpPr>
            <p:cNvPr id="13" name="TextBox 13"/>
            <p:cNvSpPr txBox="1"/>
            <p:nvPr/>
          </p:nvSpPr>
          <p:spPr>
            <a:xfrm>
              <a:off x="869442" y="1435418"/>
              <a:ext cx="29175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spc="300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HUGOHE3 / PPT-MASTER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9150" y="1874520"/>
              <a:ext cx="5643281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gradFill>
                    <a:gsLst>
                      <a:gs pos="0">
                        <a:srgbClr val="EAF2FF"/>
                      </a:gs>
                      <a:gs pos="54000">
                        <a:srgbClr val="00E5FF"/>
                      </a:gs>
                      <a:gs pos="100000">
                        <a:srgbClr val="FF2E88"/>
                      </a:gs>
                    </a:gsLst>
                    <a:lin ang="0" scaled="1"/>
                  </a:gradFill>
                  <a:effectLst>
                    <a:glow rad="76200">
                      <a:srgbClr val="00E5FF">
                        <a:alpha val="42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动态高颜值 PPT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1822" y="2768918"/>
              <a:ext cx="530252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SVG → Native PPTX 测试样片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86968" y="3422332"/>
              <a:ext cx="62362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验证：项目结构、动态图片、页面转场、元素动画、可编辑导出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76300" y="4524375"/>
            <a:ext cx="5257800" cy="876300"/>
            <a:chOff x="876300" y="4524375"/>
            <a:chExt cx="5257800" cy="876300"/>
          </a:xfrm>
        </p:grpSpPr>
        <p:sp>
          <p:nvSpPr>
            <p:cNvPr id="18" name="Rectangle 18"/>
            <p:cNvSpPr/>
            <p:nvPr/>
          </p:nvSpPr>
          <p:spPr>
            <a:xfrm>
              <a:off x="876300" y="4524375"/>
              <a:ext cx="1485900" cy="876300"/>
            </a:xfrm>
            <a:prstGeom prst="roundRect">
              <a:avLst>
                <a:gd name="adj" fmla="val 23913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1169670" y="4662488"/>
              <a:ext cx="1977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75004" y="5090160"/>
              <a:ext cx="6864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SVG 页面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571750" y="4524375"/>
              <a:ext cx="1676400" cy="876300"/>
            </a:xfrm>
            <a:prstGeom prst="roundRect">
              <a:avLst>
                <a:gd name="adj" fmla="val 23913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865120" y="4662488"/>
              <a:ext cx="49331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GIF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870454" y="5090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动态图片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57700" y="4524375"/>
              <a:ext cx="1676400" cy="876300"/>
            </a:xfrm>
            <a:prstGeom prst="roundRect">
              <a:avLst>
                <a:gd name="adj" fmla="val 23913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751070" y="4662488"/>
              <a:ext cx="7621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FF2E88"/>
                  </a:solidFill>
                  <a:latin typeface="Arial"/>
                  <a:ea typeface="Arial"/>
                  <a:cs typeface="Arial"/>
                </a:rPr>
                <a:t>PPTX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56404" y="50901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可编辑输出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870966" y="6096952"/>
            <a:ext cx="10450068" cy="205359"/>
            <a:chOff x="870966" y="6096952"/>
            <a:chExt cx="10450068" cy="205359"/>
          </a:xfrm>
        </p:grpSpPr>
        <p:sp>
          <p:nvSpPr>
            <p:cNvPr id="28" name="TextBox 28"/>
            <p:cNvSpPr txBox="1"/>
            <p:nvPr/>
          </p:nvSpPr>
          <p:spPr>
            <a:xfrm>
              <a:off x="870966" y="6096952"/>
              <a:ext cx="25607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Generated by ppt-master skill · 2026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836840" y="60969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01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1524000" y="-1333500"/>
            <a:ext cx="14573250" cy="10287000"/>
            <a:chOff x="-1524000" y="-1333500"/>
            <a:chExt cx="14573250" cy="10287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100000">
                  <a:srgbClr val="0B102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762000" y="1238250"/>
              <a:ext cx="10668000" cy="4381500"/>
            </a:xfrm>
            <a:custGeom>
              <a:avLst/>
              <a:gdLst/>
              <a:ahLst/>
              <a:cxnLst/>
              <a:rect l="l" t="t" r="r" b="b"/>
              <a:pathLst>
                <a:path w="10668000" h="4381500">
                  <a:moveTo>
                    <a:pt x="0" y="0"/>
                  </a:moveTo>
                  <a:lnTo>
                    <a:pt x="10668000" y="0"/>
                  </a:lnTo>
                  <a:moveTo>
                    <a:pt x="0" y="4381500"/>
                  </a:moveTo>
                  <a:lnTo>
                    <a:pt x="10668000" y="438150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0325F">
                  <a:alpha val="55000"/>
                </a:srgbClr>
              </a:solidFill>
            </a:ln>
          </p:spPr>
        </p:sp>
        <p:sp>
          <p:nvSpPr>
            <p:cNvPr id="4" name="Ellipse 4"/>
            <p:cNvSpPr/>
            <p:nvPr/>
          </p:nvSpPr>
          <p:spPr>
            <a:xfrm>
              <a:off x="8286750" y="-1333500"/>
              <a:ext cx="4762500" cy="4762500"/>
            </a:xfrm>
            <a:prstGeom prst="ellipse">
              <a:avLst/>
            </a:prstGeom>
            <a:solidFill>
              <a:srgbClr val="7C3AED">
                <a:alpha val="8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-1524000" y="3619500"/>
              <a:ext cx="5334000" cy="5334000"/>
            </a:xfrm>
            <a:prstGeom prst="ellipse">
              <a:avLst/>
            </a:prstGeom>
            <a:solidFill>
              <a:srgbClr val="00E5FF">
                <a:alpha val="6000"/>
              </a:srgbClr>
            </a:solidFill>
            <a:ln>
              <a:noFill/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745236" y="757714"/>
            <a:ext cx="7708964" cy="1145381"/>
            <a:chOff x="745236" y="757714"/>
            <a:chExt cx="7708964" cy="1145381"/>
          </a:xfrm>
        </p:grpSpPr>
        <p:sp>
          <p:nvSpPr>
            <p:cNvPr id="7" name="TextBox 7"/>
            <p:cNvSpPr txBox="1"/>
            <p:nvPr/>
          </p:nvSpPr>
          <p:spPr>
            <a:xfrm>
              <a:off x="755523" y="757714"/>
              <a:ext cx="256634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spc="225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PIPELINE ARCHITECTURE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45236" y="1053465"/>
              <a:ext cx="7303237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从 SVG 设计稿到原生可编辑 PPTX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4380" y="1609725"/>
              <a:ext cx="7699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ppt-master 通过规范化项目目录、质量检查、后处理和 DrawingML 导出完成闭环。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81125" y="3714750"/>
            <a:ext cx="8286750" cy="9525"/>
            <a:chOff x="1381125" y="3714750"/>
            <a:chExt cx="8286750" cy="9525"/>
          </a:xfrm>
          <a:effectLst>
            <a:glow rad="66675">
              <a:srgbClr val="00E5FF">
                <a:alpha val="36000"/>
              </a:srgbClr>
            </a:glow>
          </a:effectLst>
        </p:grpSpPr>
        <p:sp>
          <p:nvSpPr>
            <p:cNvPr id="11" name="Freeform 11"/>
            <p:cNvSpPr/>
            <p:nvPr/>
          </p:nvSpPr>
          <p:spPr>
            <a:xfrm>
              <a:off x="1381125" y="3714750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solidFill>
              <a:srgbClr val="000000"/>
            </a:solidFill>
            <a:ln w="38100" cap="rnd">
              <a:solidFill>
                <a:srgbClr val="00E5FF"/>
              </a:solidFill>
              <a:tailEnd type="triangle" w="lg" len="lg"/>
            </a:ln>
            <a:effectLst>
              <a:glow rad="66675">
                <a:srgbClr val="00E5FF">
                  <a:alpha val="36000"/>
                </a:srgbClr>
              </a:glow>
            </a:effectLst>
          </p:spPr>
        </p:sp>
        <p:sp>
          <p:nvSpPr>
            <p:cNvPr id="12" name="Freeform 12"/>
            <p:cNvSpPr/>
            <p:nvPr/>
          </p:nvSpPr>
          <p:spPr>
            <a:xfrm>
              <a:off x="1381125" y="3714750"/>
              <a:ext cx="8286750" cy="9525"/>
            </a:xfrm>
            <a:custGeom>
              <a:avLst/>
              <a:gdLst/>
              <a:ahLst/>
              <a:cxnLst/>
              <a:rect l="l" t="t" r="r" b="b"/>
              <a:pathLst>
                <a:path w="8286750" h="9525">
                  <a:moveTo>
                    <a:pt x="0" y="0"/>
                  </a:moveTo>
                  <a:lnTo>
                    <a:pt x="8286750" y="0"/>
                  </a:lnTo>
                </a:path>
              </a:pathLst>
            </a:custGeom>
            <a:solidFill>
              <a:srgbClr val="000000"/>
            </a:solidFill>
            <a:ln w="114300" cap="rnd">
              <a:solidFill>
                <a:srgbClr val="7C3AED">
                  <a:alpha val="10000"/>
                </a:srgbClr>
              </a:solidFill>
            </a:ln>
            <a:effectLst>
              <a:glow rad="66675">
                <a:srgbClr val="00E5FF">
                  <a:alpha val="36000"/>
                </a:srgbClr>
              </a:glow>
            </a:effectLst>
          </p:spPr>
        </p:sp>
      </p:grpSp>
      <p:grpSp>
        <p:nvGrpSpPr>
          <p:cNvPr id="19" name="Group 19"/>
          <p:cNvGrpSpPr/>
          <p:nvPr/>
        </p:nvGrpSpPr>
        <p:grpSpPr>
          <a:xfrm>
            <a:off x="819150" y="2552700"/>
            <a:ext cx="1905000" cy="1809750"/>
            <a:chOff x="819150" y="2552700"/>
            <a:chExt cx="1905000" cy="18097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14" name="Rectangle 14"/>
            <p:cNvSpPr/>
            <p:nvPr/>
          </p:nvSpPr>
          <p:spPr>
            <a:xfrm>
              <a:off x="819150" y="2552700"/>
              <a:ext cx="1905000" cy="1809750"/>
            </a:xfrm>
            <a:prstGeom prst="roundRect">
              <a:avLst>
                <a:gd name="adj" fmla="val 1368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5" name="Ellipse 15"/>
            <p:cNvSpPr/>
            <p:nvPr/>
          </p:nvSpPr>
          <p:spPr>
            <a:xfrm>
              <a:off x="1428750" y="2781300"/>
              <a:ext cx="685800" cy="685800"/>
            </a:xfrm>
            <a:prstGeom prst="ellipse">
              <a:avLst/>
            </a:prstGeom>
            <a:gradFill>
              <a:gsLst>
                <a:gs pos="0">
                  <a:srgbClr val="00E5FF"/>
                </a:gs>
                <a:gs pos="100000">
                  <a:srgbClr val="7C3AED"/>
                </a:gs>
              </a:gsLst>
              <a:lin ang="2700000" scaled="1"/>
            </a:gra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6" name="Freeform 16"/>
            <p:cNvSpPr/>
            <p:nvPr/>
          </p:nvSpPr>
          <p:spPr>
            <a:xfrm>
              <a:off x="1609725" y="3000375"/>
              <a:ext cx="333375" cy="247650"/>
            </a:xfrm>
            <a:custGeom>
              <a:avLst/>
              <a:gdLst/>
              <a:ahLst/>
              <a:cxnLst/>
              <a:rect l="l" t="t" r="r" b="b"/>
              <a:pathLst>
                <a:path w="333375" h="247650">
                  <a:moveTo>
                    <a:pt x="0" y="0"/>
                  </a:moveTo>
                  <a:lnTo>
                    <a:pt x="333375" y="0"/>
                  </a:lnTo>
                  <a:moveTo>
                    <a:pt x="0" y="123825"/>
                  </a:moveTo>
                  <a:lnTo>
                    <a:pt x="333375" y="123825"/>
                  </a:lnTo>
                  <a:moveTo>
                    <a:pt x="0" y="247650"/>
                  </a:moveTo>
                  <a:lnTo>
                    <a:pt x="219075" y="247650"/>
                  </a:lnTo>
                </a:path>
              </a:pathLst>
            </a:custGeom>
            <a:solidFill>
              <a:srgbClr val="000000"/>
            </a:solidFill>
            <a:ln w="47625" cap="rnd">
              <a:solidFill>
                <a:srgbClr val="050816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7" name="TextBox 17"/>
            <p:cNvSpPr txBox="1"/>
            <p:nvPr/>
          </p:nvSpPr>
          <p:spPr>
            <a:xfrm>
              <a:off x="1338733" y="3568065"/>
              <a:ext cx="865834" cy="352044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AF2FF"/>
                  </a:solidFill>
                  <a:latin typeface="Arial"/>
                  <a:ea typeface="Arial"/>
                  <a:cs typeface="Arial"/>
                </a:rPr>
                <a:t>Source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62658" y="3955256"/>
              <a:ext cx="1417983" cy="220028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Markdown / assets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3124200" y="2552700"/>
            <a:ext cx="1905000" cy="1809750"/>
            <a:chOff x="3124200" y="2552700"/>
            <a:chExt cx="1905000" cy="18097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20" name="Rectangle 20"/>
            <p:cNvSpPr/>
            <p:nvPr/>
          </p:nvSpPr>
          <p:spPr>
            <a:xfrm>
              <a:off x="3124200" y="2552700"/>
              <a:ext cx="1905000" cy="1809750"/>
            </a:xfrm>
            <a:prstGeom prst="roundRect">
              <a:avLst>
                <a:gd name="adj" fmla="val 1368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1" name="Ellipse 21"/>
            <p:cNvSpPr/>
            <p:nvPr/>
          </p:nvSpPr>
          <p:spPr>
            <a:xfrm>
              <a:off x="3733800" y="2781300"/>
              <a:ext cx="685800" cy="685800"/>
            </a:xfrm>
            <a:prstGeom prst="ellipse">
              <a:avLst/>
            </a:prstGeom>
            <a:solidFill>
              <a:srgbClr val="00E5FF">
                <a:alpha val="16000"/>
              </a:srgbClr>
            </a:solidFill>
            <a:ln w="19050">
              <a:solidFill>
                <a:srgbClr val="00E5F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2" name="Freeform 22"/>
            <p:cNvSpPr/>
            <p:nvPr/>
          </p:nvSpPr>
          <p:spPr>
            <a:xfrm>
              <a:off x="3886200" y="2914650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304800"/>
                  </a:moveTo>
                  <a:lnTo>
                    <a:pt x="190500" y="0"/>
                  </a:lnTo>
                  <a:lnTo>
                    <a:pt x="381000" y="304800"/>
                  </a:lnTo>
                  <a:close/>
                </a:path>
              </a:pathLst>
            </a:custGeom>
            <a:solidFill>
              <a:srgbClr val="00E5F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3" name="TextBox 23"/>
            <p:cNvSpPr txBox="1"/>
            <p:nvPr/>
          </p:nvSpPr>
          <p:spPr>
            <a:xfrm>
              <a:off x="3845768" y="3568065"/>
              <a:ext cx="461863" cy="352044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AF2FF"/>
                  </a:solidFill>
                  <a:latin typeface="Arial"/>
                  <a:ea typeface="Arial"/>
                  <a:cs typeface="Arial"/>
                </a:rPr>
                <a:t>SVG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298603" y="3955256"/>
              <a:ext cx="1556194" cy="220028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hand-authored pages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429250" y="2552700"/>
            <a:ext cx="1905000" cy="1809750"/>
            <a:chOff x="5429250" y="2552700"/>
            <a:chExt cx="1905000" cy="18097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5429250" y="2552700"/>
              <a:ext cx="1905000" cy="1809750"/>
            </a:xfrm>
            <a:prstGeom prst="roundRect">
              <a:avLst>
                <a:gd name="adj" fmla="val 1368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038850" y="2781300"/>
              <a:ext cx="685800" cy="685800"/>
            </a:xfrm>
            <a:prstGeom prst="ellipse">
              <a:avLst/>
            </a:prstGeom>
            <a:solidFill>
              <a:srgbClr val="7C3AED">
                <a:alpha val="22000"/>
              </a:srgbClr>
            </a:solidFill>
            <a:ln w="19050">
              <a:solidFill>
                <a:srgbClr val="7C3AED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8" name="Freeform 28"/>
            <p:cNvSpPr/>
            <p:nvPr/>
          </p:nvSpPr>
          <p:spPr>
            <a:xfrm>
              <a:off x="6200775" y="2943225"/>
              <a:ext cx="381000" cy="304800"/>
            </a:xfrm>
            <a:custGeom>
              <a:avLst/>
              <a:gdLst/>
              <a:ahLst/>
              <a:cxnLst/>
              <a:rect l="l" t="t" r="r" b="b"/>
              <a:pathLst>
                <a:path w="381000" h="304800">
                  <a:moveTo>
                    <a:pt x="0" y="190500"/>
                  </a:moveTo>
                  <a:lnTo>
                    <a:pt x="114300" y="304800"/>
                  </a:lnTo>
                  <a:lnTo>
                    <a:pt x="381000" y="0"/>
                  </a:lnTo>
                </a:path>
              </a:pathLst>
            </a:custGeom>
            <a:noFill/>
            <a:ln w="66675" cap="rnd">
              <a:solidFill>
                <a:srgbClr val="EAF2FF"/>
              </a:solidFill>
              <a:round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6018802" y="3568065"/>
              <a:ext cx="725896" cy="352044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AF2FF"/>
                  </a:solidFill>
                  <a:latin typeface="Arial"/>
                  <a:ea typeface="Arial"/>
                  <a:cs typeface="Arial"/>
                </a:rPr>
                <a:t>Check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933051" y="3955256"/>
              <a:ext cx="897398" cy="220028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quality gate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734300" y="2552700"/>
            <a:ext cx="1905000" cy="1809750"/>
            <a:chOff x="7734300" y="2552700"/>
            <a:chExt cx="1905000" cy="18097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32" name="Rectangle 32"/>
            <p:cNvSpPr/>
            <p:nvPr/>
          </p:nvSpPr>
          <p:spPr>
            <a:xfrm>
              <a:off x="7734300" y="2552700"/>
              <a:ext cx="1905000" cy="1809750"/>
            </a:xfrm>
            <a:prstGeom prst="roundRect">
              <a:avLst>
                <a:gd name="adj" fmla="val 1368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3" name="Ellipse 33"/>
            <p:cNvSpPr/>
            <p:nvPr/>
          </p:nvSpPr>
          <p:spPr>
            <a:xfrm>
              <a:off x="8343900" y="2781300"/>
              <a:ext cx="685800" cy="685800"/>
            </a:xfrm>
            <a:prstGeom prst="ellipse">
              <a:avLst/>
            </a:prstGeom>
            <a:solidFill>
              <a:srgbClr val="FF2E88">
                <a:alpha val="20000"/>
              </a:srgbClr>
            </a:solidFill>
            <a:ln w="19050">
              <a:solidFill>
                <a:srgbClr val="FF2E88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4" name="Rectangle 34"/>
            <p:cNvSpPr/>
            <p:nvPr/>
          </p:nvSpPr>
          <p:spPr>
            <a:xfrm>
              <a:off x="8477250" y="2924175"/>
              <a:ext cx="419100" cy="419100"/>
            </a:xfrm>
            <a:prstGeom prst="roundRect">
              <a:avLst>
                <a:gd name="adj" fmla="val 15909"/>
              </a:avLst>
            </a:prstGeom>
            <a:noFill/>
            <a:ln w="38100">
              <a:solidFill>
                <a:srgbClr val="EAF2F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5" name="Freeform 35"/>
            <p:cNvSpPr/>
            <p:nvPr/>
          </p:nvSpPr>
          <p:spPr>
            <a:xfrm>
              <a:off x="8562975" y="304800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0"/>
                  </a:moveTo>
                  <a:lnTo>
                    <a:pt x="247650" y="0"/>
                  </a:lnTo>
                  <a:moveTo>
                    <a:pt x="0" y="123825"/>
                  </a:moveTo>
                  <a:lnTo>
                    <a:pt x="180975" y="123825"/>
                  </a:lnTo>
                  <a:moveTo>
                    <a:pt x="0" y="247650"/>
                  </a:moveTo>
                  <a:lnTo>
                    <a:pt x="285750" y="247650"/>
                  </a:lnTo>
                </a:path>
              </a:pathLst>
            </a:custGeom>
            <a:solidFill>
              <a:srgbClr val="000000"/>
            </a:solidFill>
            <a:ln w="28575" cap="rnd">
              <a:solidFill>
                <a:srgbClr val="00E5F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8381939" y="3568065"/>
              <a:ext cx="609722" cy="352044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EAF2FF"/>
                  </a:solidFill>
                  <a:latin typeface="Arial"/>
                  <a:ea typeface="Arial"/>
                  <a:cs typeface="Arial"/>
                </a:rPr>
                <a:t>PPTX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177522" y="3955256"/>
              <a:ext cx="1018556" cy="220028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native shapes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10153650" y="2400300"/>
            <a:ext cx="1219200" cy="2133600"/>
            <a:chOff x="10153650" y="2400300"/>
            <a:chExt cx="1219200" cy="2133600"/>
          </a:xfrm>
        </p:grpSpPr>
        <p:sp>
          <p:nvSpPr>
            <p:cNvPr id="39" name="Rectangle 39"/>
            <p:cNvSpPr/>
            <p:nvPr/>
          </p:nvSpPr>
          <p:spPr>
            <a:xfrm>
              <a:off x="10153650" y="2400300"/>
              <a:ext cx="1219200" cy="2133600"/>
            </a:xfrm>
            <a:prstGeom prst="roundRect">
              <a:avLst>
                <a:gd name="adj" fmla="val 21875"/>
              </a:avLst>
            </a:prstGeom>
            <a:solidFill>
              <a:srgbClr val="050816"/>
            </a:solidFill>
            <a:ln w="9525">
              <a:solidFill>
                <a:srgbClr val="20325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624803" y="2574608"/>
              <a:ext cx="27689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3150" b="1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75214" y="312515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核心阶段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10477500" y="3638550"/>
              <a:ext cx="571500" cy="361950"/>
            </a:xfrm>
            <a:custGeom>
              <a:avLst/>
              <a:gdLst/>
              <a:ahLst/>
              <a:cxnLst/>
              <a:rect l="l" t="t" r="r" b="b"/>
              <a:pathLst>
                <a:path w="571500" h="361950">
                  <a:moveTo>
                    <a:pt x="0" y="0"/>
                  </a:moveTo>
                  <a:lnTo>
                    <a:pt x="571500" y="0"/>
                  </a:lnTo>
                  <a:moveTo>
                    <a:pt x="0" y="361950"/>
                  </a:moveTo>
                  <a:lnTo>
                    <a:pt x="571500" y="36195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0325F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0545890" y="374427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可验证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0545890" y="4106228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可复用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756666" y="6077902"/>
            <a:ext cx="10678668" cy="205359"/>
            <a:chOff x="756666" y="6077902"/>
            <a:chExt cx="10678668" cy="205359"/>
          </a:xfrm>
        </p:grpSpPr>
        <p:sp>
          <p:nvSpPr>
            <p:cNvPr id="46" name="TextBox 46"/>
            <p:cNvSpPr txBox="1"/>
            <p:nvPr/>
          </p:nvSpPr>
          <p:spPr>
            <a:xfrm>
              <a:off x="756666" y="6077902"/>
              <a:ext cx="29013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Project: official_smoke_ppt169_20260630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951140" y="6077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02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8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9" grpId="0"/>
      <p:bldP spid="25" grpId="0"/>
      <p:bldP spid="31" grpId="0"/>
      <p:bldP spid="38" grpId="0"/>
      <p:bldP spid="4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571500"/>
            <a:ext cx="12192000" cy="8001000"/>
            <a:chOff x="0" y="-571500"/>
            <a:chExt cx="12192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100000">
                  <a:srgbClr val="0B102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095500" y="-571500"/>
              <a:ext cx="8001000" cy="8001000"/>
            </a:xfrm>
            <a:prstGeom prst="ellipse">
              <a:avLst/>
            </a:prstGeom>
            <a:gradFill>
              <a:gsLst>
                <a:gs pos="0">
                  <a:srgbClr val="00E5FF">
                    <a:alpha val="24000"/>
                  </a:srgbClr>
                </a:gs>
                <a:gs pos="100000">
                  <a:srgbClr val="05081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762000" y="5791200"/>
              <a:ext cx="10668000" cy="9525"/>
            </a:xfrm>
            <a:custGeom>
              <a:avLst/>
              <a:gdLst/>
              <a:ahLst/>
              <a:cxnLst/>
              <a:rect l="l" t="t" r="r" b="b"/>
              <a:pathLst>
                <a:path w="10668000" h="9525">
                  <a:moveTo>
                    <a:pt x="0" y="0"/>
                  </a:moveTo>
                  <a:lnTo>
                    <a:pt x="10668000" y="0"/>
                  </a:lnTo>
                </a:path>
              </a:pathLst>
            </a:custGeom>
            <a:solidFill>
              <a:srgbClr val="000000"/>
            </a:solidFill>
            <a:ln w="9525">
              <a:solidFill>
                <a:srgbClr val="20325F"/>
              </a:solidFill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757714"/>
            <a:ext cx="7774003" cy="1145381"/>
            <a:chOff x="745236" y="757714"/>
            <a:chExt cx="7774003" cy="1145381"/>
          </a:xfrm>
        </p:grpSpPr>
        <p:sp>
          <p:nvSpPr>
            <p:cNvPr id="6" name="TextBox 6"/>
            <p:cNvSpPr txBox="1"/>
            <p:nvPr/>
          </p:nvSpPr>
          <p:spPr>
            <a:xfrm>
              <a:off x="755523" y="757714"/>
              <a:ext cx="16526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spc="225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MOTION PROOF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53465"/>
              <a:ext cx="5700996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动态图片 + 对象级入场动画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1609725"/>
              <a:ext cx="77648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本页用于验证 GIF 媒体、semantic group anchors 与 PowerPoint Animation Pane。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81050" y="2266950"/>
            <a:ext cx="4762500" cy="2952750"/>
            <a:chOff x="781050" y="2266950"/>
            <a:chExt cx="4762500" cy="2952750"/>
          </a:xfrm>
          <a:effectLst>
            <a:outerShdw blurRad="190500" dist="66675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81050" y="2266950"/>
              <a:ext cx="4762500" cy="2952750"/>
            </a:xfrm>
            <a:prstGeom prst="roundRect">
              <a:avLst>
                <a:gd name="adj" fmla="val 10968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90500" dist="66675" dir="5400000" algn="ctr" rotWithShape="0">
                <a:srgbClr val="000000">
                  <a:alpha val="13500"/>
                </a:srgbClr>
              </a:outerShdw>
            </a:effectLst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rcRect l="0" t="2016" r="0" b="2016"/>
            <a:stretch>
              <a:fillRect/>
            </a:stretch>
          </p:blipFill>
          <p:spPr>
            <a:xfrm>
              <a:off x="1009650" y="2495550"/>
              <a:ext cx="4305300" cy="2324100"/>
            </a:xfrm>
            <a:prstGeom prst="rect">
              <a:avLst/>
            </a:prstGeom>
          </p:spPr>
        </p:pic>
        <p:sp>
          <p:nvSpPr>
            <p:cNvPr id="12" name="Rectangle 12"/>
            <p:cNvSpPr/>
            <p:nvPr/>
          </p:nvSpPr>
          <p:spPr>
            <a:xfrm>
              <a:off x="1009650" y="2495550"/>
              <a:ext cx="4305300" cy="2324100"/>
            </a:xfrm>
            <a:prstGeom prst="roundRect">
              <a:avLst>
                <a:gd name="adj" fmla="val 9836"/>
              </a:avLst>
            </a:prstGeom>
            <a:noFill/>
            <a:ln w="12382">
              <a:solidFill>
                <a:srgbClr val="00E5FF">
                  <a:alpha val="55000"/>
                </a:srgbClr>
              </a:solidFill>
            </a:ln>
            <a:effectLst>
              <a:outerShdw blurRad="190500" dist="66675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1175004" y="4956810"/>
              <a:ext cx="4026560" cy="234696"/>
            </a:xfrm>
            <a:prstGeom prst="rect">
              <a:avLst/>
            </a:prstGeom>
            <a:noFill/>
            <a:ln>
              <a:noFill/>
            </a:ln>
            <a:effectLst>
              <a:outerShdw blurRad="190500" dist="66675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dynamic_ai_orbit.gif · 24 frames · animated visual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096000" y="2343150"/>
            <a:ext cx="2776204" cy="1257300"/>
            <a:chOff x="6096000" y="2343150"/>
            <a:chExt cx="2776204" cy="1257300"/>
          </a:xfrm>
          <a:effectLst>
            <a:glow rad="57150">
              <a:srgbClr val="7C3AED">
                <a:alpha val="38000"/>
              </a:srgbClr>
            </a:glow>
          </a:effectLst>
        </p:grpSpPr>
        <p:sp>
          <p:nvSpPr>
            <p:cNvPr id="15" name="Rectangle 15"/>
            <p:cNvSpPr/>
            <p:nvPr/>
          </p:nvSpPr>
          <p:spPr>
            <a:xfrm>
              <a:off x="6096000" y="2343150"/>
              <a:ext cx="2247900" cy="1257300"/>
            </a:xfrm>
            <a:prstGeom prst="roundRect">
              <a:avLst>
                <a:gd name="adj" fmla="val 19697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glow rad="57150">
                <a:srgbClr val="7C3AED">
                  <a:alpha val="38000"/>
                </a:srgbClr>
              </a:glow>
            </a:effectLst>
          </p:spPr>
        </p:sp>
        <p:sp>
          <p:nvSpPr>
            <p:cNvPr id="16" name="TextBox 16"/>
            <p:cNvSpPr txBox="1"/>
            <p:nvPr/>
          </p:nvSpPr>
          <p:spPr>
            <a:xfrm>
              <a:off x="6402324" y="2485072"/>
              <a:ext cx="1790631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00E5FF"/>
                  </a:solidFill>
                  <a:effectLst>
                    <a:glow rad="57150">
                      <a:srgbClr val="7C3AED">
                        <a:alpha val="38000"/>
                      </a:srgbClr>
                    </a:glow>
                  </a:effectLst>
                  <a:latin typeface="Arial"/>
                  <a:ea typeface="Arial"/>
                  <a:cs typeface="Arial"/>
                </a:rPr>
                <a:t>-a auto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413373" y="3081814"/>
              <a:ext cx="24588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DA2C0"/>
                  </a:solidFill>
                  <a:effectLst>
                    <a:glow rad="57150">
                      <a:srgbClr val="7C3AED">
                        <a:alpha val="38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semantic groups 自动映射效果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686800" y="2343150"/>
            <a:ext cx="2247900" cy="1257300"/>
            <a:chOff x="8686800" y="2343150"/>
            <a:chExt cx="2247900" cy="1257300"/>
          </a:xfrm>
          <a:effectLst>
            <a:glow rad="57150">
              <a:srgbClr val="7C3AED">
                <a:alpha val="38000"/>
              </a:srgbClr>
            </a:glow>
          </a:effectLst>
        </p:grpSpPr>
        <p:sp>
          <p:nvSpPr>
            <p:cNvPr id="19" name="Rectangle 19"/>
            <p:cNvSpPr/>
            <p:nvPr/>
          </p:nvSpPr>
          <p:spPr>
            <a:xfrm>
              <a:off x="8686800" y="2343150"/>
              <a:ext cx="2247900" cy="1257300"/>
            </a:xfrm>
            <a:prstGeom prst="roundRect">
              <a:avLst>
                <a:gd name="adj" fmla="val 19697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glow rad="57150">
                <a:srgbClr val="7C3AED">
                  <a:alpha val="38000"/>
                </a:srgbClr>
              </a:glow>
            </a:effectLst>
          </p:spPr>
        </p:sp>
        <p:sp>
          <p:nvSpPr>
            <p:cNvPr id="20" name="TextBox 20"/>
            <p:cNvSpPr txBox="1"/>
            <p:nvPr/>
          </p:nvSpPr>
          <p:spPr>
            <a:xfrm>
              <a:off x="8993124" y="2485072"/>
              <a:ext cx="110790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450" b="1" dirty="0">
                  <a:solidFill>
                    <a:srgbClr val="7C3AED"/>
                  </a:solidFill>
                  <a:effectLst>
                    <a:glow rad="57150">
                      <a:srgbClr val="7C3AED">
                        <a:alpha val="38000"/>
                      </a:srgbClr>
                    </a:glow>
                  </a:effectLst>
                  <a:latin typeface="Arial"/>
                  <a:ea typeface="Arial"/>
                  <a:cs typeface="Arial"/>
                </a:rPr>
                <a:t>push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04173" y="3081814"/>
              <a:ext cx="125734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8DA2C0"/>
                  </a:solidFill>
                  <a:effectLst>
                    <a:glow rad="57150">
                      <a:srgbClr val="7C3AED">
                        <a:alpha val="38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页面转场 0.6 秒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6096000" y="4171950"/>
            <a:ext cx="4838700" cy="923639"/>
            <a:chOff x="6096000" y="4171950"/>
            <a:chExt cx="4838700" cy="923639"/>
          </a:xfrm>
        </p:grpSpPr>
        <p:sp>
          <p:nvSpPr>
            <p:cNvPr id="23" name="Rectangle 23"/>
            <p:cNvSpPr/>
            <p:nvPr/>
          </p:nvSpPr>
          <p:spPr>
            <a:xfrm>
              <a:off x="6096000" y="4171950"/>
              <a:ext cx="4838700" cy="895350"/>
            </a:xfrm>
            <a:prstGeom prst="roundRect">
              <a:avLst>
                <a:gd name="adj" fmla="val 29787"/>
              </a:avLst>
            </a:prstGeom>
            <a:solidFill>
              <a:srgbClr val="050816"/>
            </a:solidFill>
            <a:ln w="9525">
              <a:solidFill>
                <a:srgbClr val="20325F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496050" y="4591050"/>
              <a:ext cx="3733800" cy="95250"/>
            </a:xfrm>
            <a:prstGeom prst="roundRect">
              <a:avLst>
                <a:gd name="adj" fmla="val 50000"/>
              </a:avLst>
            </a:prstGeom>
            <a:solidFill>
              <a:srgbClr val="20325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496050" y="4591050"/>
              <a:ext cx="2428875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E5FF"/>
                </a:gs>
                <a:gs pos="100000">
                  <a:srgbClr val="FF2E8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6" name="Ellipse 26"/>
            <p:cNvSpPr/>
            <p:nvPr/>
          </p:nvSpPr>
          <p:spPr>
            <a:xfrm>
              <a:off x="6362700" y="4505325"/>
              <a:ext cx="266700" cy="266700"/>
            </a:xfrm>
            <a:prstGeom prst="ellipse">
              <a:avLst/>
            </a:prstGeom>
            <a:solidFill>
              <a:srgbClr val="00E5FF"/>
            </a:solidFill>
            <a:ln>
              <a:noFill/>
            </a:ln>
          </p:spPr>
        </p:sp>
        <p:sp>
          <p:nvSpPr>
            <p:cNvPr id="27" name="Ellipse 27"/>
            <p:cNvSpPr/>
            <p:nvPr/>
          </p:nvSpPr>
          <p:spPr>
            <a:xfrm>
              <a:off x="7581900" y="4505325"/>
              <a:ext cx="266700" cy="266700"/>
            </a:xfrm>
            <a:prstGeom prst="ellipse">
              <a:avLst/>
            </a:prstGeom>
            <a:solidFill>
              <a:srgbClr val="7C3AED"/>
            </a:solidFill>
            <a:ln>
              <a:noFill/>
            </a:ln>
          </p:spPr>
        </p:sp>
        <p:sp>
          <p:nvSpPr>
            <p:cNvPr id="28" name="Ellipse 28"/>
            <p:cNvSpPr/>
            <p:nvPr/>
          </p:nvSpPr>
          <p:spPr>
            <a:xfrm>
              <a:off x="8801100" y="4505325"/>
              <a:ext cx="266700" cy="266700"/>
            </a:xfrm>
            <a:prstGeom prst="ellipse">
              <a:avLst/>
            </a:prstGeom>
            <a:solidFill>
              <a:srgbClr val="FF2E88"/>
            </a:solidFill>
            <a:ln>
              <a:noFill/>
            </a:ln>
          </p:spPr>
        </p:sp>
        <p:sp>
          <p:nvSpPr>
            <p:cNvPr id="29" name="Ellipse 29"/>
            <p:cNvSpPr/>
            <p:nvPr/>
          </p:nvSpPr>
          <p:spPr>
            <a:xfrm>
              <a:off x="10096500" y="4505325"/>
              <a:ext cx="266700" cy="266700"/>
            </a:xfrm>
            <a:prstGeom prst="ellipse">
              <a:avLst/>
            </a:prstGeom>
            <a:solidFill>
              <a:srgbClr val="20325F"/>
            </a:solidFill>
            <a:ln w="9525">
              <a:solidFill>
                <a:srgbClr val="8DA2C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343436" y="4904899"/>
              <a:ext cx="30522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title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533103" y="4904899"/>
              <a:ext cx="36429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image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680113" y="4904899"/>
              <a:ext cx="5086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metrics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060829" y="4904899"/>
              <a:ext cx="3380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close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62000" y="5695950"/>
            <a:ext cx="10172700" cy="457200"/>
            <a:chOff x="762000" y="5695950"/>
            <a:chExt cx="10172700" cy="457200"/>
          </a:xfrm>
        </p:grpSpPr>
        <p:sp>
          <p:nvSpPr>
            <p:cNvPr id="35" name="Rectangle 35"/>
            <p:cNvSpPr/>
            <p:nvPr/>
          </p:nvSpPr>
          <p:spPr>
            <a:xfrm>
              <a:off x="762000" y="5695950"/>
              <a:ext cx="10172700" cy="457200"/>
            </a:xfrm>
            <a:prstGeom prst="roundRect">
              <a:avLst>
                <a:gd name="adj" fmla="val 50000"/>
              </a:avLst>
            </a:prstGeom>
            <a:solidFill>
              <a:srgbClr val="00E5FF">
                <a:alpha val="10000"/>
              </a:srgbClr>
            </a:solidFill>
            <a:ln w="9525">
              <a:solidFill>
                <a:srgbClr val="00E5FF">
                  <a:alpha val="35000"/>
                </a:srgbClr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59942" y="5845492"/>
              <a:ext cx="92536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验证重点：GIF 作为真实媒体进入 ppt/media；元素动画由顶层 g id 自动生成，并可在 PowerPoint 中继续调整。</a:t>
              </a: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951140" y="60779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A2C0"/>
                </a:solidFill>
                <a:latin typeface="Arial"/>
                <a:ea typeface="Arial"/>
                <a:cs typeface="Arial"/>
              </a:rPr>
              <a:t>03 / 05</a:t>
            </a:r>
          </a:p>
        </p:txBody>
      </p: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1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  <p:bldP spid="18" grpId="0"/>
      <p:bldP spid="22" grpId="0"/>
      <p:bldP spid="34" grpId="0"/>
      <p:bldP spid="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571500" y="-1047750"/>
            <a:ext cx="13049250" cy="9144000"/>
            <a:chOff x="-571500" y="-1047750"/>
            <a:chExt cx="13049250" cy="9144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100000">
                  <a:srgbClr val="0B102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7524750" y="-1047750"/>
              <a:ext cx="4953000" cy="4953000"/>
            </a:xfrm>
            <a:prstGeom prst="ellipse">
              <a:avLst/>
            </a:prstGeom>
            <a:solidFill>
              <a:srgbClr val="00E5FF">
                <a:alpha val="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571500" y="3524250"/>
              <a:ext cx="4572000" cy="4572000"/>
            </a:xfrm>
            <a:prstGeom prst="ellipse">
              <a:avLst/>
            </a:prstGeom>
            <a:solidFill>
              <a:srgbClr val="FF2E88">
                <a:alpha val="5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5236" y="757714"/>
            <a:ext cx="8476423" cy="1145381"/>
            <a:chOff x="745236" y="757714"/>
            <a:chExt cx="8476423" cy="1145381"/>
          </a:xfrm>
        </p:grpSpPr>
        <p:sp>
          <p:nvSpPr>
            <p:cNvPr id="6" name="TextBox 6"/>
            <p:cNvSpPr txBox="1"/>
            <p:nvPr/>
          </p:nvSpPr>
          <p:spPr>
            <a:xfrm>
              <a:off x="755523" y="757714"/>
              <a:ext cx="163929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spc="225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QUALITY GATES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5236" y="1053465"/>
              <a:ext cx="8476423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导出验证不是“看起来像”，而是实际跑通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4380" y="1609725"/>
              <a:ext cx="55946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质量链路会检查 XML、画布、禁用特性、分组和媒体打包。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81050" y="2381250"/>
            <a:ext cx="2892781" cy="2495550"/>
            <a:chOff x="781050" y="2381250"/>
            <a:chExt cx="2892781" cy="24955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10" name="Rectangle 10"/>
            <p:cNvSpPr/>
            <p:nvPr/>
          </p:nvSpPr>
          <p:spPr>
            <a:xfrm>
              <a:off x="781050" y="2381250"/>
              <a:ext cx="2419350" cy="2495550"/>
            </a:xfrm>
            <a:prstGeom prst="roundRect">
              <a:avLst>
                <a:gd name="adj" fmla="val 1102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1" name="Ellipse 11"/>
            <p:cNvSpPr/>
            <p:nvPr/>
          </p:nvSpPr>
          <p:spPr>
            <a:xfrm>
              <a:off x="990600" y="2647950"/>
              <a:ext cx="457200" cy="457200"/>
            </a:xfrm>
            <a:prstGeom prst="ellipse">
              <a:avLst/>
            </a:prstGeom>
            <a:solidFill>
              <a:srgbClr val="00E5FF">
                <a:alpha val="16000"/>
              </a:srgbClr>
            </a:solidFill>
            <a:ln w="9525">
              <a:solidFill>
                <a:srgbClr val="00E5F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2" name="Freeform 12"/>
            <p:cNvSpPr/>
            <p:nvPr/>
          </p:nvSpPr>
          <p:spPr>
            <a:xfrm>
              <a:off x="1104900" y="2771775"/>
              <a:ext cx="257175" cy="209550"/>
            </a:xfrm>
            <a:custGeom>
              <a:avLst/>
              <a:gdLst/>
              <a:ahLst/>
              <a:cxnLst/>
              <a:rect l="l" t="t" r="r" b="b"/>
              <a:pathLst>
                <a:path w="257175" h="209550">
                  <a:moveTo>
                    <a:pt x="0" y="114300"/>
                  </a:moveTo>
                  <a:lnTo>
                    <a:pt x="95250" y="209550"/>
                  </a:lnTo>
                  <a:lnTo>
                    <a:pt x="257175" y="0"/>
                  </a:lnTo>
                </a:path>
              </a:pathLst>
            </a:custGeom>
            <a:noFill/>
            <a:ln w="47625" cap="rnd">
              <a:solidFill>
                <a:srgbClr val="EAF2FF"/>
              </a:solidFill>
              <a:round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3" name="TextBox 13"/>
            <p:cNvSpPr txBox="1"/>
            <p:nvPr/>
          </p:nvSpPr>
          <p:spPr>
            <a:xfrm>
              <a:off x="1057275" y="3207544"/>
              <a:ext cx="1685258" cy="366712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SVG 结构检查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60704" y="3651885"/>
              <a:ext cx="2613127" cy="234696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viewBox / XML / banned features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066800" y="4171950"/>
              <a:ext cx="1638300" cy="95250"/>
            </a:xfrm>
            <a:prstGeom prst="roundRect">
              <a:avLst>
                <a:gd name="adj" fmla="val 50000"/>
              </a:avLst>
            </a:prstGeom>
            <a:solidFill>
              <a:srgbClr val="20325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6" name="Rectangle 16"/>
            <p:cNvSpPr/>
            <p:nvPr/>
          </p:nvSpPr>
          <p:spPr>
            <a:xfrm>
              <a:off x="1066800" y="4171950"/>
              <a:ext cx="1466850" cy="95250"/>
            </a:xfrm>
            <a:prstGeom prst="roundRect">
              <a:avLst>
                <a:gd name="adj" fmla="val 50000"/>
              </a:avLst>
            </a:prstGeom>
            <a:solidFill>
              <a:srgbClr val="00E5F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</p:grpSp>
      <p:grpSp>
        <p:nvGrpSpPr>
          <p:cNvPr id="25" name="Group 25"/>
          <p:cNvGrpSpPr/>
          <p:nvPr/>
        </p:nvGrpSpPr>
        <p:grpSpPr>
          <a:xfrm>
            <a:off x="3562350" y="2381250"/>
            <a:ext cx="3054248" cy="2495550"/>
            <a:chOff x="3562350" y="2381250"/>
            <a:chExt cx="3054248" cy="24955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18" name="Rectangle 18"/>
            <p:cNvSpPr/>
            <p:nvPr/>
          </p:nvSpPr>
          <p:spPr>
            <a:xfrm>
              <a:off x="3562350" y="2381250"/>
              <a:ext cx="2419350" cy="2495550"/>
            </a:xfrm>
            <a:prstGeom prst="roundRect">
              <a:avLst>
                <a:gd name="adj" fmla="val 1102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3771900" y="2647950"/>
              <a:ext cx="457200" cy="457200"/>
            </a:xfrm>
            <a:prstGeom prst="ellipse">
              <a:avLst/>
            </a:prstGeom>
            <a:solidFill>
              <a:srgbClr val="7C3AED">
                <a:alpha val="22000"/>
              </a:srgbClr>
            </a:solidFill>
            <a:ln w="9525">
              <a:solidFill>
                <a:srgbClr val="7C3AED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0" name="Freeform 20"/>
            <p:cNvSpPr/>
            <p:nvPr/>
          </p:nvSpPr>
          <p:spPr>
            <a:xfrm>
              <a:off x="3886200" y="2771775"/>
              <a:ext cx="257175" cy="209550"/>
            </a:xfrm>
            <a:custGeom>
              <a:avLst/>
              <a:gdLst/>
              <a:ahLst/>
              <a:cxnLst/>
              <a:rect l="l" t="t" r="r" b="b"/>
              <a:pathLst>
                <a:path w="257175" h="209550">
                  <a:moveTo>
                    <a:pt x="0" y="114300"/>
                  </a:moveTo>
                  <a:lnTo>
                    <a:pt x="95250" y="209550"/>
                  </a:lnTo>
                  <a:lnTo>
                    <a:pt x="257175" y="0"/>
                  </a:lnTo>
                </a:path>
              </a:pathLst>
            </a:custGeom>
            <a:noFill/>
            <a:ln w="47625" cap="rnd">
              <a:solidFill>
                <a:srgbClr val="EAF2FF"/>
              </a:solidFill>
              <a:round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1" name="TextBox 21"/>
            <p:cNvSpPr txBox="1"/>
            <p:nvPr/>
          </p:nvSpPr>
          <p:spPr>
            <a:xfrm>
              <a:off x="3838575" y="3207544"/>
              <a:ext cx="814149" cy="366712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后处理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42004" y="3651885"/>
              <a:ext cx="2774594" cy="234696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image embed / text flatten / notes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848100" y="4171950"/>
              <a:ext cx="1638300" cy="95250"/>
            </a:xfrm>
            <a:prstGeom prst="roundRect">
              <a:avLst>
                <a:gd name="adj" fmla="val 50000"/>
              </a:avLst>
            </a:prstGeom>
            <a:solidFill>
              <a:srgbClr val="20325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4" name="Rectangle 24"/>
            <p:cNvSpPr/>
            <p:nvPr/>
          </p:nvSpPr>
          <p:spPr>
            <a:xfrm>
              <a:off x="3848100" y="4171950"/>
              <a:ext cx="1257300" cy="95250"/>
            </a:xfrm>
            <a:prstGeom prst="roundRect">
              <a:avLst>
                <a:gd name="adj" fmla="val 50000"/>
              </a:avLst>
            </a:prstGeom>
            <a:solidFill>
              <a:srgbClr val="7C3AED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</p:grpSp>
      <p:grpSp>
        <p:nvGrpSpPr>
          <p:cNvPr id="33" name="Group 33"/>
          <p:cNvGrpSpPr/>
          <p:nvPr/>
        </p:nvGrpSpPr>
        <p:grpSpPr>
          <a:xfrm>
            <a:off x="6343650" y="2381250"/>
            <a:ext cx="2419350" cy="2495550"/>
            <a:chOff x="6343650" y="2381250"/>
            <a:chExt cx="2419350" cy="24955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26" name="Rectangle 26"/>
            <p:cNvSpPr/>
            <p:nvPr/>
          </p:nvSpPr>
          <p:spPr>
            <a:xfrm>
              <a:off x="6343650" y="2381250"/>
              <a:ext cx="2419350" cy="2495550"/>
            </a:xfrm>
            <a:prstGeom prst="roundRect">
              <a:avLst>
                <a:gd name="adj" fmla="val 11024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7" name="Ellipse 27"/>
            <p:cNvSpPr/>
            <p:nvPr/>
          </p:nvSpPr>
          <p:spPr>
            <a:xfrm>
              <a:off x="6553200" y="2647950"/>
              <a:ext cx="457200" cy="457200"/>
            </a:xfrm>
            <a:prstGeom prst="ellipse">
              <a:avLst/>
            </a:prstGeom>
            <a:solidFill>
              <a:srgbClr val="FF2E88">
                <a:alpha val="20000"/>
              </a:srgbClr>
            </a:solidFill>
            <a:ln w="9525">
              <a:solidFill>
                <a:srgbClr val="FF2E88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8" name="Freeform 28"/>
            <p:cNvSpPr/>
            <p:nvPr/>
          </p:nvSpPr>
          <p:spPr>
            <a:xfrm>
              <a:off x="6667500" y="2771775"/>
              <a:ext cx="257175" cy="209550"/>
            </a:xfrm>
            <a:custGeom>
              <a:avLst/>
              <a:gdLst/>
              <a:ahLst/>
              <a:cxnLst/>
              <a:rect l="l" t="t" r="r" b="b"/>
              <a:pathLst>
                <a:path w="257175" h="209550">
                  <a:moveTo>
                    <a:pt x="0" y="114300"/>
                  </a:moveTo>
                  <a:lnTo>
                    <a:pt x="95250" y="209550"/>
                  </a:lnTo>
                  <a:lnTo>
                    <a:pt x="257175" y="0"/>
                  </a:lnTo>
                </a:path>
              </a:pathLst>
            </a:custGeom>
            <a:noFill/>
            <a:ln w="47625" cap="rnd">
              <a:solidFill>
                <a:srgbClr val="EAF2FF"/>
              </a:solidFill>
              <a:round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6619875" y="3207544"/>
              <a:ext cx="1279208" cy="366712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PPTX 打包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23304" y="3651885"/>
              <a:ext cx="2112264" cy="234696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slides / media / animations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629400" y="4171950"/>
              <a:ext cx="1638300" cy="95250"/>
            </a:xfrm>
            <a:prstGeom prst="roundRect">
              <a:avLst>
                <a:gd name="adj" fmla="val 50000"/>
              </a:avLst>
            </a:prstGeom>
            <a:solidFill>
              <a:srgbClr val="20325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2" name="Rectangle 32"/>
            <p:cNvSpPr/>
            <p:nvPr/>
          </p:nvSpPr>
          <p:spPr>
            <a:xfrm>
              <a:off x="6629400" y="4171950"/>
              <a:ext cx="1390650" cy="95250"/>
            </a:xfrm>
            <a:prstGeom prst="roundRect">
              <a:avLst>
                <a:gd name="adj" fmla="val 50000"/>
              </a:avLst>
            </a:prstGeom>
            <a:solidFill>
              <a:srgbClr val="FF2E88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</p:grpSp>
      <p:grpSp>
        <p:nvGrpSpPr>
          <p:cNvPr id="41" name="Group 41"/>
          <p:cNvGrpSpPr/>
          <p:nvPr/>
        </p:nvGrpSpPr>
        <p:grpSpPr>
          <a:xfrm>
            <a:off x="9124950" y="2381250"/>
            <a:ext cx="2286000" cy="2495550"/>
            <a:chOff x="9124950" y="2381250"/>
            <a:chExt cx="2286000" cy="2495550"/>
          </a:xfrm>
          <a:effectLst>
            <a:outerShdw blurRad="171450" dist="57150" dir="5400000" algn="ctr" rotWithShape="0">
              <a:srgbClr val="000000">
                <a:alpha val="13500"/>
              </a:srgbClr>
            </a:outerShdw>
          </a:effectLst>
        </p:grpSpPr>
        <p:sp>
          <p:nvSpPr>
            <p:cNvPr id="34" name="Rectangle 34"/>
            <p:cNvSpPr/>
            <p:nvPr/>
          </p:nvSpPr>
          <p:spPr>
            <a:xfrm>
              <a:off x="9124950" y="2381250"/>
              <a:ext cx="2286000" cy="2495550"/>
            </a:xfrm>
            <a:prstGeom prst="roundRect">
              <a:avLst>
                <a:gd name="adj" fmla="val 11667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5" name="Ellipse 35"/>
            <p:cNvSpPr/>
            <p:nvPr/>
          </p:nvSpPr>
          <p:spPr>
            <a:xfrm>
              <a:off x="9334500" y="2647950"/>
              <a:ext cx="457200" cy="457200"/>
            </a:xfrm>
            <a:prstGeom prst="ellipse">
              <a:avLst/>
            </a:prstGeom>
            <a:solidFill>
              <a:srgbClr val="00E5FF">
                <a:alpha val="16000"/>
              </a:srgbClr>
            </a:solidFill>
            <a:ln w="9525">
              <a:solidFill>
                <a:srgbClr val="00E5FF"/>
              </a:solidFill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36" name="TextBox 36"/>
            <p:cNvSpPr txBox="1"/>
            <p:nvPr/>
          </p:nvSpPr>
          <p:spPr>
            <a:xfrm>
              <a:off x="9470802" y="2754630"/>
              <a:ext cx="184596" cy="410718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b="1" dirty="0">
                  <a:solidFill>
                    <a:srgbClr val="EAF2FF"/>
                  </a:solidFill>
                  <a:latin typeface="Arial"/>
                  <a:ea typeface="Arial"/>
                  <a:cs typeface="Arial"/>
                </a:rPr>
                <a:t>✓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401175" y="3207544"/>
              <a:ext cx="1344216" cy="366712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b="1" dirty="0">
                  <a:solidFill>
                    <a:srgbClr val="EAF2FF"/>
                  </a:solidFill>
                  <a:latin typeface="Arial"/>
                  <a:ea typeface="Microsoft YaHei"/>
                  <a:cs typeface="Arial"/>
                </a:rPr>
                <a:t>可编辑验证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4604" y="3651885"/>
              <a:ext cx="1974538" cy="234696"/>
            </a:xfrm>
            <a:prstGeom prst="rect">
              <a:avLst/>
            </a:prstGeom>
            <a:noFill/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native DrawingML shapes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9410700" y="4171950"/>
              <a:ext cx="1524000" cy="95250"/>
            </a:xfrm>
            <a:prstGeom prst="roundRect">
              <a:avLst>
                <a:gd name="adj" fmla="val 50000"/>
              </a:avLst>
            </a:prstGeom>
            <a:solidFill>
              <a:srgbClr val="20325F"/>
            </a:soli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  <p:sp>
          <p:nvSpPr>
            <p:cNvPr id="40" name="Rectangle 40"/>
            <p:cNvSpPr/>
            <p:nvPr/>
          </p:nvSpPr>
          <p:spPr>
            <a:xfrm>
              <a:off x="9410700" y="4171950"/>
              <a:ext cx="1276350" cy="952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E5FF"/>
                </a:gs>
                <a:gs pos="100000">
                  <a:srgbClr val="7C3AED"/>
                </a:gs>
              </a:gsLst>
              <a:lin ang="0" scaled="1"/>
            </a:gradFill>
            <a:ln>
              <a:noFill/>
            </a:ln>
            <a:effectLst>
              <a:outerShdw blurRad="171450" dist="57150" dir="5400000" algn="ctr" rotWithShape="0">
                <a:srgbClr val="000000">
                  <a:alpha val="13500"/>
                </a:srgbClr>
              </a:outerShdw>
            </a:effectLst>
          </p:spPr>
        </p:sp>
      </p:grpSp>
      <p:grpSp>
        <p:nvGrpSpPr>
          <p:cNvPr id="47" name="Group 47"/>
          <p:cNvGrpSpPr/>
          <p:nvPr/>
        </p:nvGrpSpPr>
        <p:grpSpPr>
          <a:xfrm>
            <a:off x="762000" y="5314950"/>
            <a:ext cx="10648950" cy="647700"/>
            <a:chOff x="762000" y="5314950"/>
            <a:chExt cx="10648950" cy="647700"/>
          </a:xfrm>
        </p:grpSpPr>
        <p:sp>
          <p:nvSpPr>
            <p:cNvPr id="42" name="Rectangle 42"/>
            <p:cNvSpPr/>
            <p:nvPr/>
          </p:nvSpPr>
          <p:spPr>
            <a:xfrm>
              <a:off x="762000" y="5314950"/>
              <a:ext cx="10648950" cy="647700"/>
            </a:xfrm>
            <a:prstGeom prst="roundRect">
              <a:avLst>
                <a:gd name="adj" fmla="val 29412"/>
              </a:avLst>
            </a:prstGeom>
            <a:solidFill>
              <a:srgbClr val="050816"/>
            </a:solidFill>
            <a:ln w="9525">
              <a:solidFill>
                <a:srgbClr val="20325F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47750" y="5581650"/>
              <a:ext cx="114300" cy="114300"/>
            </a:xfrm>
            <a:prstGeom prst="ellipse">
              <a:avLst/>
            </a:prstGeom>
            <a:solidFill>
              <a:srgbClr val="FF2E88"/>
            </a:solidFill>
            <a:ln>
              <a:noFill/>
            </a:ln>
          </p:spPr>
        </p:sp>
        <p:sp>
          <p:nvSpPr>
            <p:cNvPr id="44" name="Ellipse 44"/>
            <p:cNvSpPr/>
            <p:nvPr/>
          </p:nvSpPr>
          <p:spPr>
            <a:xfrm>
              <a:off x="1257300" y="5581650"/>
              <a:ext cx="114300" cy="114300"/>
            </a:xfrm>
            <a:prstGeom prst="ellipse">
              <a:avLst/>
            </a:prstGeom>
            <a:solidFill>
              <a:srgbClr val="FBBF24"/>
            </a:solidFill>
            <a:ln>
              <a:noFill/>
            </a:ln>
          </p:spPr>
        </p:sp>
        <p:sp>
          <p:nvSpPr>
            <p:cNvPr id="45" name="Ellipse 45"/>
            <p:cNvSpPr/>
            <p:nvPr/>
          </p:nvSpPr>
          <p:spPr>
            <a:xfrm>
              <a:off x="1466850" y="5581650"/>
              <a:ext cx="114300" cy="114300"/>
            </a:xfrm>
            <a:prstGeom prst="ellipse">
              <a:avLst/>
            </a:prstGeom>
            <a:solidFill>
              <a:srgbClr val="00E5F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822323" y="5567839"/>
              <a:ext cx="80543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8DA2C0"/>
                  </a:solidFill>
                  <a:latin typeface="Consolas"/>
                  <a:ea typeface="Consolas"/>
                  <a:cs typeface="Consolas"/>
                </a:rPr>
                <a:t>svg_quality_checker.py → total_md_split.py → finalize_svg.py → svg_to_pptx.py -a auto -t push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56666" y="6173152"/>
            <a:ext cx="10678668" cy="205359"/>
            <a:chOff x="756666" y="6173152"/>
            <a:chExt cx="10678668" cy="205359"/>
          </a:xfrm>
        </p:grpSpPr>
        <p:sp>
          <p:nvSpPr>
            <p:cNvPr id="48" name="TextBox 48"/>
            <p:cNvSpPr txBox="1"/>
            <p:nvPr/>
          </p:nvSpPr>
          <p:spPr>
            <a:xfrm>
              <a:off x="756666" y="6173152"/>
              <a:ext cx="312039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DA2C0"/>
                  </a:solidFill>
                  <a:latin typeface="Arial"/>
                  <a:ea typeface="Microsoft YaHei"/>
                  <a:cs typeface="Arial"/>
                </a:rPr>
                <a:t>所有命令均在本机真实执行，并以工具输出为准。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951140" y="617315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04 / 05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4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2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7" grpId="0"/>
      <p:bldP spid="25" grpId="0"/>
      <p:bldP spid="33" grpId="0"/>
      <p:bldP spid="41" grpId="0"/>
      <p:bldP spid="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-857250"/>
            <a:ext cx="12192000" cy="8191500"/>
            <a:chOff x="0" y="-857250"/>
            <a:chExt cx="12192000" cy="81915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050816"/>
                </a:gs>
                <a:gs pos="100000">
                  <a:srgbClr val="0B1026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000250" y="-857250"/>
              <a:ext cx="8191500" cy="8191500"/>
            </a:xfrm>
            <a:prstGeom prst="ellipse">
              <a:avLst/>
            </a:prstGeom>
            <a:gradFill>
              <a:gsLst>
                <a:gs pos="0">
                  <a:srgbClr val="7C3AED">
                    <a:alpha val="28000"/>
                  </a:srgbClr>
                </a:gs>
                <a:gs pos="100000">
                  <a:srgbClr val="050816">
                    <a:alpha val="0"/>
                  </a:srgb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  <p:sp>
          <p:nvSpPr>
            <p:cNvPr id="4" name="Freeform 4"/>
            <p:cNvSpPr/>
            <p:nvPr/>
          </p:nvSpPr>
          <p:spPr>
            <a:xfrm>
              <a:off x="1047750" y="685800"/>
              <a:ext cx="10096500" cy="1466850"/>
            </a:xfrm>
            <a:custGeom>
              <a:avLst/>
              <a:gdLst/>
              <a:ahLst/>
              <a:cxnLst/>
              <a:rect l="l" t="t" r="r" b="b"/>
              <a:pathLst>
                <a:path w="10096500" h="1466850">
                  <a:moveTo>
                    <a:pt x="0" y="1028700"/>
                  </a:moveTo>
                  <a:cubicBezTo>
                    <a:pt x="1809750" y="171450"/>
                    <a:pt x="3714750" y="1466850"/>
                    <a:pt x="5524500" y="742950"/>
                  </a:cubicBezTo>
                  <a:cubicBezTo>
                    <a:pt x="7410450" y="0"/>
                    <a:pt x="8572500" y="781050"/>
                    <a:pt x="10096500" y="247650"/>
                  </a:cubicBezTo>
                </a:path>
              </a:pathLst>
            </a:custGeom>
            <a:noFill/>
            <a:ln w="13335">
              <a:solidFill>
                <a:srgbClr val="00E5FF">
                  <a:alpha val="30000"/>
                </a:srgbClr>
              </a:solidFill>
            </a:ln>
          </p:spPr>
        </p:sp>
        <p:sp>
          <p:nvSpPr>
            <p:cNvPr id="5" name="Freeform 5"/>
            <p:cNvSpPr/>
            <p:nvPr/>
          </p:nvSpPr>
          <p:spPr>
            <a:xfrm>
              <a:off x="857250" y="4305300"/>
              <a:ext cx="10477500" cy="1524000"/>
            </a:xfrm>
            <a:custGeom>
              <a:avLst/>
              <a:gdLst/>
              <a:ahLst/>
              <a:cxnLst/>
              <a:rect l="l" t="t" r="r" b="b"/>
              <a:pathLst>
                <a:path w="10477500" h="1524000">
                  <a:moveTo>
                    <a:pt x="0" y="1162050"/>
                  </a:moveTo>
                  <a:cubicBezTo>
                    <a:pt x="2095500" y="133350"/>
                    <a:pt x="3409950" y="1524000"/>
                    <a:pt x="5467350" y="781050"/>
                  </a:cubicBezTo>
                  <a:cubicBezTo>
                    <a:pt x="7029450" y="209550"/>
                    <a:pt x="9029700" y="742950"/>
                    <a:pt x="10477500" y="0"/>
                  </a:cubicBezTo>
                </a:path>
              </a:pathLst>
            </a:custGeom>
            <a:noFill/>
            <a:ln w="11430">
              <a:solidFill>
                <a:srgbClr val="FF2E88">
                  <a:alpha val="25000"/>
                </a:srgbClr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1101857" y="1647825"/>
            <a:ext cx="9988286" cy="1825942"/>
            <a:chOff x="1101857" y="1647825"/>
            <a:chExt cx="9988286" cy="1825942"/>
          </a:xfrm>
          <a:effectLst>
            <a:glow rad="76200">
              <a:srgbClr val="00E5FF">
                <a:alpha val="40000"/>
              </a:srgbClr>
            </a:glow>
          </a:effectLst>
        </p:grpSpPr>
        <p:sp>
          <p:nvSpPr>
            <p:cNvPr id="7" name="TextBox 7"/>
            <p:cNvSpPr txBox="1"/>
            <p:nvPr/>
          </p:nvSpPr>
          <p:spPr>
            <a:xfrm>
              <a:off x="5176266" y="1647825"/>
              <a:ext cx="18394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spc="300" dirty="0">
                  <a:solidFill>
                    <a:srgbClr val="00E5FF"/>
                  </a:solidFill>
                  <a:effectLst>
                    <a:glow rad="76200">
                      <a:srgbClr val="00E5FF">
                        <a:alpha val="40000"/>
                      </a:srgbClr>
                    </a:glow>
                  </a:effectLst>
                  <a:latin typeface="Arial"/>
                  <a:ea typeface="Arial"/>
                  <a:cs typeface="Arial"/>
                </a:rPr>
                <a:t>RESULT READY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01857" y="2099310"/>
              <a:ext cx="9988286" cy="11049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5700" b="1" dirty="0">
                  <a:solidFill>
                    <a:srgbClr val="EAF2FF"/>
                  </a:solidFill>
                  <a:effectLst>
                    <a:glow rad="76200">
                      <a:srgbClr val="00E5FF">
                        <a:alpha val="4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ppt-master 已封装为 Skill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916174" y="3033712"/>
              <a:ext cx="635965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dirty="0">
                  <a:solidFill>
                    <a:srgbClr val="8DA2C0"/>
                  </a:solidFill>
                  <a:effectLst>
                    <a:glow rad="76200">
                      <a:srgbClr val="00E5FF">
                        <a:alpha val="40000"/>
                      </a:srgbClr>
                    </a:glow>
                  </a:effectLst>
                  <a:latin typeface="Arial"/>
                  <a:ea typeface="Microsoft YaHei"/>
                  <a:cs typeface="Arial"/>
                </a:rPr>
                <a:t>并生成包含动态图片与动画的 PPTX 测试文件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790700" y="4000500"/>
            <a:ext cx="8610600" cy="1104900"/>
            <a:chOff x="1790700" y="4000500"/>
            <a:chExt cx="8610600" cy="1104900"/>
          </a:xfrm>
        </p:grpSpPr>
        <p:sp>
          <p:nvSpPr>
            <p:cNvPr id="11" name="Rectangle 11"/>
            <p:cNvSpPr/>
            <p:nvPr/>
          </p:nvSpPr>
          <p:spPr>
            <a:xfrm>
              <a:off x="1790700" y="4000500"/>
              <a:ext cx="2476500" cy="1104900"/>
            </a:xfrm>
            <a:prstGeom prst="roundRect">
              <a:avLst>
                <a:gd name="adj" fmla="val 24138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608040" y="4292918"/>
              <a:ext cx="8418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Skill Path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264081" y="4607719"/>
              <a:ext cx="1529739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00E5FF"/>
                  </a:solidFill>
                  <a:latin typeface="Arial"/>
                  <a:ea typeface="Arial"/>
                  <a:cs typeface="Arial"/>
                </a:rPr>
                <a:t>ppt-master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4857750" y="4000500"/>
              <a:ext cx="2476500" cy="1104900"/>
            </a:xfrm>
            <a:prstGeom prst="roundRect">
              <a:avLst>
                <a:gd name="adj" fmla="val 24138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68102" y="4292918"/>
              <a:ext cx="6557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Output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066097" y="4607719"/>
              <a:ext cx="205980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7C3AED"/>
                  </a:solidFill>
                  <a:latin typeface="Arial"/>
                  <a:ea typeface="Arial"/>
                  <a:cs typeface="Arial"/>
                </a:rPr>
                <a:t>exports/*.pptx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24800" y="4000500"/>
              <a:ext cx="2476500" cy="1104900"/>
            </a:xfrm>
            <a:prstGeom prst="roundRect">
              <a:avLst>
                <a:gd name="adj" fmla="val 24138"/>
              </a:avLst>
            </a:prstGeom>
            <a:solidFill>
              <a:srgbClr val="101A3F"/>
            </a:solidFill>
            <a:ln w="9525">
              <a:solidFill>
                <a:srgbClr val="20325F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58083" y="4292918"/>
              <a:ext cx="6099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8DA2C0"/>
                  </a:solidFill>
                  <a:latin typeface="Arial"/>
                  <a:ea typeface="Arial"/>
                  <a:cs typeface="Arial"/>
                </a:rPr>
                <a:t>Motion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327422" y="4607719"/>
              <a:ext cx="167125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80" b="1" dirty="0">
                  <a:solidFill>
                    <a:srgbClr val="FF2E88"/>
                  </a:solidFill>
                  <a:latin typeface="Arial"/>
                  <a:ea typeface="Arial"/>
                  <a:cs typeface="Arial"/>
                </a:rPr>
                <a:t>GIF + OOXML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3105150" y="5581650"/>
            <a:ext cx="5981700" cy="533400"/>
            <a:chOff x="3105150" y="5581650"/>
            <a:chExt cx="5981700" cy="533400"/>
          </a:xfrm>
        </p:grpSpPr>
        <p:sp>
          <p:nvSpPr>
            <p:cNvPr id="21" name="Rectangle 21"/>
            <p:cNvSpPr/>
            <p:nvPr/>
          </p:nvSpPr>
          <p:spPr>
            <a:xfrm>
              <a:off x="3105150" y="5581650"/>
              <a:ext cx="598170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00E5FF"/>
                </a:gs>
                <a:gs pos="50000">
                  <a:srgbClr val="7C3AED"/>
                </a:gs>
                <a:gs pos="100000">
                  <a:srgbClr val="FF2E88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62035" y="5746432"/>
              <a:ext cx="48679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050816"/>
                  </a:solidFill>
                  <a:latin typeface="Arial"/>
                  <a:ea typeface="Microsoft YaHei"/>
                  <a:cs typeface="Arial"/>
                </a:rPr>
                <a:t>可复用命令：hermes skills view ppt-master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10951140" y="6268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DA2C0"/>
                </a:solidFill>
                <a:latin typeface="Arial"/>
                <a:ea typeface="Arial"/>
                <a:cs typeface="Arial"/>
              </a:rPr>
              <a:t>05 / 05</a:t>
            </a:r>
          </a:p>
        </p:txBody>
      </p:sp>
    </p:spTree>
  </p:cSld>
  <p:clrMapOvr>
    <a:masterClrMapping/>
  </p:clrMapOvr>
  <p:transition xmlns:p14="http://schemas.microsoft.com/office/powerpoint/2010/main" p14:dur="600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8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20" grpId="0"/>
      <p:bldP spid="2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2026-06-30T15:40:06Z</dcterms:created>
  <dcterms:modified xsi:type="dcterms:W3CDTF">2026-06-30T15:40:06Z</dcterms:modified>
  <cp:category/>
  <cp:contentStatus/>
</cp:coreProperties>
</file>